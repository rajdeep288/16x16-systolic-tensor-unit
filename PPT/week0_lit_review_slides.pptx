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b725ff674ceb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2b725ff674ceb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2b725ff674ceb6c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2b725ff674ceb6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1d06ab1c701e81ca_9_0)">
  <p:cSld name="Generated (h1d06ab1c701e81ca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005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/>
        </p:nvSpPr>
        <p:spPr>
          <a:xfrm>
            <a:off x="381000" y="238125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Zero-Skipping Through Operand Isolation</a:t>
            </a:r>
            <a:endParaRPr b="1" sz="2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381000" y="5524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1000" y="762000"/>
            <a:ext cx="8382000" cy="876300"/>
          </a:xfrm>
          <a:prstGeom prst="roundRect">
            <a:avLst>
              <a:gd fmla="val 6523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571500" y="762000"/>
            <a:ext cx="8001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Patent Reference: </a:t>
            </a:r>
            <a:r>
              <a:rPr b="0" i="0" lang="en" sz="115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US20200150924A1 (Samsung Electronics-2019)</a:t>
            </a:r>
            <a:endParaRPr b="1" i="0" sz="115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5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Title: </a:t>
            </a:r>
            <a:r>
              <a:rPr b="0" i="0" lang="en" sz="115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Signed multiplication using unsigned multiplier with dynamic fine-grained operand isolation</a:t>
            </a:r>
            <a:endParaRPr b="1" i="0" sz="115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295100" y="1983425"/>
            <a:ext cx="4029173" cy="2816581"/>
            <a:chOff x="0" y="0"/>
            <a:chExt cx="4048200" cy="34290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40482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4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0" y="0"/>
              <a:ext cx="4048200" cy="342900"/>
            </a:xfrm>
            <a:prstGeom prst="roundRect">
              <a:avLst>
                <a:gd fmla="val 222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171450"/>
              <a:ext cx="4048200" cy="1716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0" y="0"/>
              <a:ext cx="3762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9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Proposed Technique &amp; Key Benefits</a:t>
              </a:r>
              <a:endParaRPr b="1" sz="10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171450" y="457200"/>
              <a:ext cx="3705300" cy="28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4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When either operand is zero, the operand registers hold their previous values, keeping inputs stable and eliminating switching power.</a:t>
              </a:r>
              <a:endParaRPr b="0" sz="104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93"/>
                </a:spcBef>
                <a:spcAft>
                  <a:spcPts val="0"/>
                </a:spcAft>
                <a:buNone/>
              </a:pPr>
              <a:r>
                <a:rPr b="1" lang="en" sz="109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Key Architectural Highlights:</a:t>
              </a:r>
              <a:endParaRPr b="1" sz="109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95"/>
                </a:spcBef>
                <a:spcAft>
                  <a:spcPts val="0"/>
                </a:spcAft>
                <a:buNone/>
              </a:pPr>
              <a:r>
                <a:rPr b="1" lang="en" sz="99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Input Stabilization:</a:t>
              </a:r>
              <a:r>
                <a:rPr b="0" lang="en" sz="99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Freezes operand registers 1005 and 1006 during zero-operand states.</a:t>
              </a:r>
              <a:endParaRPr b="0" sz="99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95"/>
                </a:spcBef>
                <a:spcAft>
                  <a:spcPts val="0"/>
                </a:spcAft>
                <a:buNone/>
              </a:pPr>
              <a:r>
                <a:rPr b="1" lang="en" sz="99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Switching Reduction:</a:t>
              </a:r>
              <a:r>
                <a:rPr b="0" lang="en" sz="99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Prevents unnecessary dynamic switching inside the internal multiplier array.</a:t>
              </a:r>
              <a:endParaRPr b="0" sz="99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95"/>
                </a:spcBef>
                <a:spcAft>
                  <a:spcPts val="0"/>
                </a:spcAft>
                <a:buNone/>
              </a:pPr>
              <a:r>
                <a:rPr b="1" lang="en" sz="99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Stale Output Isolation:</a:t>
              </a:r>
              <a:r>
                <a:rPr b="0" lang="en" sz="99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Output AND gate 1008 suppresses invalid stale calculation results.</a:t>
              </a:r>
              <a:endParaRPr b="0" sz="99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1409" l="0" r="0" t="1400"/>
          <a:stretch/>
        </p:blipFill>
        <p:spPr>
          <a:xfrm rot="5400000">
            <a:off x="5720189" y="1211615"/>
            <a:ext cx="2239200" cy="43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6"/>
          <p:cNvGrpSpPr/>
          <p:nvPr/>
        </p:nvGrpSpPr>
        <p:grpSpPr>
          <a:xfrm>
            <a:off x="381000" y="238125"/>
            <a:ext cx="8382000" cy="504825"/>
            <a:chOff x="0" y="0"/>
            <a:chExt cx="8382000" cy="504825"/>
          </a:xfrm>
        </p:grpSpPr>
        <p:sp>
          <p:nvSpPr>
            <p:cNvPr id="79" name="Google Shape;79;p16"/>
            <p:cNvSpPr txBox="1"/>
            <p:nvPr/>
          </p:nvSpPr>
          <p:spPr>
            <a:xfrm>
              <a:off x="0" y="0"/>
              <a:ext cx="838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Proposed Adaptation: Zero-Skipping in Our Systolic PE</a:t>
              </a:r>
              <a:endParaRPr b="1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0" y="314325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16"/>
          <p:cNvGrpSpPr/>
          <p:nvPr/>
        </p:nvGrpSpPr>
        <p:grpSpPr>
          <a:xfrm>
            <a:off x="381000" y="676025"/>
            <a:ext cx="8382000" cy="476400"/>
            <a:chOff x="0" y="0"/>
            <a:chExt cx="8382000" cy="476400"/>
          </a:xfrm>
        </p:grpSpPr>
        <p:sp>
          <p:nvSpPr>
            <p:cNvPr id="82" name="Google Shape;82;p16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12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142875" y="0"/>
              <a:ext cx="809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Architecture Summary: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Fine-grained zero detection dynamically bypasses multiplier dynamic switching and blocks accumulator updates when either input operand evaluates to zero, maximizing energy efficiency per MAC operation.</a:t>
              </a:r>
              <a:endParaRPr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16"/>
          <p:cNvGrpSpPr/>
          <p:nvPr/>
        </p:nvGrpSpPr>
        <p:grpSpPr>
          <a:xfrm>
            <a:off x="381000" y="1409700"/>
            <a:ext cx="4048200" cy="3429000"/>
            <a:chOff x="0" y="0"/>
            <a:chExt cx="4048200" cy="3429000"/>
          </a:xfrm>
        </p:grpSpPr>
        <p:sp>
          <p:nvSpPr>
            <p:cNvPr id="85" name="Google Shape;85;p16"/>
            <p:cNvSpPr/>
            <p:nvPr/>
          </p:nvSpPr>
          <p:spPr>
            <a:xfrm>
              <a:off x="0" y="0"/>
              <a:ext cx="40482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0" y="0"/>
              <a:ext cx="4048200" cy="342900"/>
            </a:xfrm>
            <a:prstGeom prst="roundRect">
              <a:avLst>
                <a:gd fmla="val 222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0" y="228600"/>
              <a:ext cx="4048200" cy="1143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142875" y="0"/>
              <a:ext cx="3762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Proposed PE Dataflow Architecture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" name="Google Shape;89;p16"/>
            <p:cNvGrpSpPr/>
            <p:nvPr/>
          </p:nvGrpSpPr>
          <p:grpSpPr>
            <a:xfrm>
              <a:off x="381000" y="247650"/>
              <a:ext cx="3314775" cy="2571750"/>
              <a:chOff x="0" y="-209550"/>
              <a:chExt cx="3314775" cy="2571750"/>
            </a:xfrm>
          </p:grpSpPr>
          <p:sp>
            <p:nvSpPr>
              <p:cNvPr id="90" name="Google Shape;90;p16"/>
              <p:cNvSpPr/>
              <p:nvPr/>
            </p:nvSpPr>
            <p:spPr>
              <a:xfrm>
                <a:off x="0" y="0"/>
                <a:ext cx="12384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6"/>
              <p:cNvSpPr txBox="1"/>
              <p:nvPr/>
            </p:nvSpPr>
            <p:spPr>
              <a:xfrm>
                <a:off x="0" y="0"/>
                <a:ext cx="1238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Input Register A</a:t>
                </a:r>
                <a:endParaRPr b="1" sz="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" name="Google Shape;92;p16"/>
              <p:cNvCxnSpPr/>
              <p:nvPr/>
            </p:nvCxnSpPr>
            <p:spPr>
              <a:xfrm>
                <a:off x="619125" y="247650"/>
                <a:ext cx="0" cy="247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3" name="Google Shape;93;p16"/>
              <p:cNvSpPr/>
              <p:nvPr/>
            </p:nvSpPr>
            <p:spPr>
              <a:xfrm>
                <a:off x="590550" y="476250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0" y="533400"/>
                <a:ext cx="12384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6"/>
              <p:cNvSpPr txBox="1"/>
              <p:nvPr/>
            </p:nvSpPr>
            <p:spPr>
              <a:xfrm>
                <a:off x="0" y="533400"/>
                <a:ext cx="1238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Zero Detector A</a:t>
                </a:r>
                <a:endParaRPr b="1" sz="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6"/>
              <p:cNvSpPr/>
              <p:nvPr/>
            </p:nvSpPr>
            <p:spPr>
              <a:xfrm>
                <a:off x="2047875" y="0"/>
                <a:ext cx="12384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 txBox="1"/>
              <p:nvPr/>
            </p:nvSpPr>
            <p:spPr>
              <a:xfrm>
                <a:off x="2047875" y="0"/>
                <a:ext cx="1238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Input Register B</a:t>
                </a:r>
                <a:endParaRPr b="1" sz="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" name="Google Shape;98;p16"/>
              <p:cNvCxnSpPr/>
              <p:nvPr/>
            </p:nvCxnSpPr>
            <p:spPr>
              <a:xfrm>
                <a:off x="2667000" y="247650"/>
                <a:ext cx="0" cy="247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9" name="Google Shape;99;p16"/>
              <p:cNvSpPr/>
              <p:nvPr/>
            </p:nvSpPr>
            <p:spPr>
              <a:xfrm>
                <a:off x="2638425" y="476250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6"/>
              <p:cNvSpPr/>
              <p:nvPr/>
            </p:nvSpPr>
            <p:spPr>
              <a:xfrm>
                <a:off x="2047875" y="533400"/>
                <a:ext cx="1238400" cy="2478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6"/>
              <p:cNvSpPr txBox="1"/>
              <p:nvPr/>
            </p:nvSpPr>
            <p:spPr>
              <a:xfrm>
                <a:off x="2047875" y="533400"/>
                <a:ext cx="1238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Zero Detector B</a:t>
                </a:r>
                <a:endParaRPr b="1" sz="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" name="Google Shape;102;p16"/>
              <p:cNvCxnSpPr/>
              <p:nvPr/>
            </p:nvCxnSpPr>
            <p:spPr>
              <a:xfrm>
                <a:off x="619125" y="781050"/>
                <a:ext cx="0" cy="13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6"/>
              <p:cNvCxnSpPr/>
              <p:nvPr/>
            </p:nvCxnSpPr>
            <p:spPr>
              <a:xfrm>
                <a:off x="2667000" y="781050"/>
                <a:ext cx="0" cy="13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6"/>
              <p:cNvCxnSpPr/>
              <p:nvPr/>
            </p:nvCxnSpPr>
            <p:spPr>
              <a:xfrm>
                <a:off x="619125" y="914400"/>
                <a:ext cx="20478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6"/>
              <p:cNvCxnSpPr/>
              <p:nvPr/>
            </p:nvCxnSpPr>
            <p:spPr>
              <a:xfrm>
                <a:off x="1643063" y="914400"/>
                <a:ext cx="0" cy="13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6" name="Google Shape;106;p16"/>
              <p:cNvSpPr/>
              <p:nvPr/>
            </p:nvSpPr>
            <p:spPr>
              <a:xfrm>
                <a:off x="1614488" y="1028700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1714500" y="895350"/>
                <a:ext cx="1333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48">
                    <a:solidFill>
                      <a:srgbClr val="1E40A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skip_mult = A_zero | B_zero</a:t>
                </a:r>
                <a:endParaRPr b="1" sz="648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619125" y="1085850"/>
                <a:ext cx="2047800" cy="400200"/>
              </a:xfrm>
              <a:prstGeom prst="roundRect">
                <a:avLst>
                  <a:gd fmla="val 9523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 txBox="1"/>
              <p:nvPr/>
            </p:nvSpPr>
            <p:spPr>
              <a:xfrm>
                <a:off x="619125" y="1085850"/>
                <a:ext cx="20478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E40A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Operand Isolation</a:t>
                </a:r>
                <a:endParaRPr b="1" sz="800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48">
                    <a:solidFill>
                      <a:srgbClr val="3B82F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A_mult = 0 | B_mult = 0</a:t>
                </a:r>
                <a:endParaRPr b="1" sz="648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10" name="Google Shape;110;p16"/>
              <p:cNvCxnSpPr/>
              <p:nvPr/>
            </p:nvCxnSpPr>
            <p:spPr>
              <a:xfrm>
                <a:off x="1643063" y="1485900"/>
                <a:ext cx="0" cy="13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1" name="Google Shape;111;p16"/>
              <p:cNvSpPr/>
              <p:nvPr/>
            </p:nvSpPr>
            <p:spPr>
              <a:xfrm>
                <a:off x="1614488" y="1600200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809625" y="1657350"/>
                <a:ext cx="16668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 txBox="1"/>
              <p:nvPr/>
            </p:nvSpPr>
            <p:spPr>
              <a:xfrm>
                <a:off x="809625" y="165735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MULTIPLIER</a:t>
                </a:r>
                <a:endParaRPr b="1" sz="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" name="Google Shape;114;p16"/>
              <p:cNvCxnSpPr/>
              <p:nvPr/>
            </p:nvCxnSpPr>
            <p:spPr>
              <a:xfrm>
                <a:off x="1643063" y="1924050"/>
                <a:ext cx="0" cy="133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64748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5" name="Google Shape;115;p16"/>
              <p:cNvSpPr/>
              <p:nvPr/>
            </p:nvSpPr>
            <p:spPr>
              <a:xfrm>
                <a:off x="1614488" y="2038350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1714500" y="1924050"/>
                <a:ext cx="952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48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Product = 0</a:t>
                </a:r>
                <a:endParaRPr sz="648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809625" y="2095500"/>
                <a:ext cx="16668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6"/>
              <p:cNvSpPr txBox="1"/>
              <p:nvPr/>
            </p:nvSpPr>
            <p:spPr>
              <a:xfrm>
                <a:off x="809625" y="2095500"/>
                <a:ext cx="1666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Skip Accumulator Update</a:t>
                </a:r>
                <a:endParaRPr b="1" sz="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9" name="Google Shape;119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238250" y="-100012"/>
                <a:ext cx="204780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" name="Google Shape;120;p16"/>
              <p:cNvSpPr/>
              <p:nvPr/>
            </p:nvSpPr>
            <p:spPr>
              <a:xfrm>
                <a:off x="3267075" y="95250"/>
                <a:ext cx="477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1762125" y="-209550"/>
                <a:ext cx="1333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48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2" name="Google Shape;122;p16"/>
          <p:cNvGrpSpPr/>
          <p:nvPr/>
        </p:nvGrpSpPr>
        <p:grpSpPr>
          <a:xfrm>
            <a:off x="4714875" y="1409700"/>
            <a:ext cx="4048200" cy="3429000"/>
            <a:chOff x="0" y="0"/>
            <a:chExt cx="4048200" cy="34290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40482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0"/>
              <a:ext cx="4048200" cy="342900"/>
            </a:xfrm>
            <a:prstGeom prst="roundRect">
              <a:avLst>
                <a:gd fmla="val 2222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228600"/>
              <a:ext cx="4048200" cy="1143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142875" y="0"/>
              <a:ext cx="3762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Control Equations &amp; Logic Rules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" name="Google Shape;127;p16"/>
            <p:cNvGrpSpPr/>
            <p:nvPr/>
          </p:nvGrpSpPr>
          <p:grpSpPr>
            <a:xfrm>
              <a:off x="190500" y="457200"/>
              <a:ext cx="3667200" cy="2781450"/>
              <a:chOff x="0" y="0"/>
              <a:chExt cx="3667200" cy="2781450"/>
            </a:xfrm>
          </p:grpSpPr>
          <p:sp>
            <p:nvSpPr>
              <p:cNvPr id="128" name="Google Shape;128;p16"/>
              <p:cNvSpPr txBox="1"/>
              <p:nvPr/>
            </p:nvSpPr>
            <p:spPr>
              <a:xfrm>
                <a:off x="0" y="0"/>
                <a:ext cx="3667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1. Zero Detection Logic: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9" name="Google Shape;129;p16"/>
              <p:cNvGrpSpPr/>
              <p:nvPr/>
            </p:nvGrpSpPr>
            <p:grpSpPr>
              <a:xfrm>
                <a:off x="0" y="209550"/>
                <a:ext cx="3619575" cy="304800"/>
                <a:chOff x="0" y="0"/>
                <a:chExt cx="3619575" cy="304800"/>
              </a:xfrm>
            </p:grpSpPr>
            <p:sp>
              <p:nvSpPr>
                <p:cNvPr id="130" name="Google Shape;130;p16"/>
                <p:cNvSpPr/>
                <p:nvPr/>
              </p:nvSpPr>
              <p:spPr>
                <a:xfrm>
                  <a:off x="0" y="0"/>
                  <a:ext cx="17622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16"/>
                <p:cNvSpPr txBox="1"/>
                <p:nvPr/>
              </p:nvSpPr>
              <p:spPr>
                <a:xfrm>
                  <a:off x="95250" y="0"/>
                  <a:ext cx="15717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85">
                      <a:solidFill>
                        <a:srgbClr val="0F172A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Azero = (Aeff == 0)</a:t>
                  </a:r>
                  <a:endParaRPr b="1" sz="1085">
                    <a:solidFill>
                      <a:srgbClr val="0F172A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857375" y="0"/>
                  <a:ext cx="17622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" name="Google Shape;133;p16"/>
                <p:cNvSpPr txBox="1"/>
                <p:nvPr/>
              </p:nvSpPr>
              <p:spPr>
                <a:xfrm>
                  <a:off x="1952625" y="0"/>
                  <a:ext cx="15717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85">
                      <a:solidFill>
                        <a:srgbClr val="0F172A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Bzero = (Beff == 0)</a:t>
                  </a:r>
                  <a:endParaRPr b="1" sz="1085">
                    <a:solidFill>
                      <a:srgbClr val="0F172A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134" name="Google Shape;134;p16"/>
              <p:cNvSpPr txBox="1"/>
              <p:nvPr/>
            </p:nvSpPr>
            <p:spPr>
              <a:xfrm>
                <a:off x="0" y="628650"/>
                <a:ext cx="3667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2. Multiplier Skip Condition: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0" y="819150"/>
                <a:ext cx="3619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 txBox="1"/>
              <p:nvPr/>
            </p:nvSpPr>
            <p:spPr>
              <a:xfrm>
                <a:off x="142875" y="819150"/>
                <a:ext cx="3333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40A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skip_mult = Azero | Bzero</a:t>
                </a:r>
                <a:endParaRPr b="1" sz="1000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0" y="1238250"/>
                <a:ext cx="3619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When </a:t>
                </a:r>
                <a:r>
                  <a:rPr b="1" lang="en" sz="850">
                    <a:solidFill>
                      <a:srgbClr val="0F172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skip_mult = 1</a:t>
                </a:r>
                <a:r>
                  <a:rPr lang="en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, force both local multiplier inputs to zero. This keeps their values constant, eliminating dynamic switching power inside the multiplier array.</a:t>
                </a:r>
                <a:endParaRPr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0" y="1695450"/>
                <a:ext cx="3667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3. Accumulator Update Gating Control: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0" y="1885950"/>
                <a:ext cx="3619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3B82F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142875" y="1885950"/>
                <a:ext cx="3333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40A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acc_update = mac_valid &amp; !skip_mult</a:t>
                </a:r>
                <a:endParaRPr b="1" sz="1000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1" name="Google Shape;141;p16"/>
              <p:cNvSpPr txBox="1"/>
              <p:nvPr/>
            </p:nvSpPr>
            <p:spPr>
              <a:xfrm>
                <a:off x="0" y="2305050"/>
                <a:ext cx="3619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